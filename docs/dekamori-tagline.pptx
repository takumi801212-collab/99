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確定版。前提4条件（通常回／POP主戦場／単独開催／お値段そのまま不可）のもとでの設計。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本命は据え置き。保険案は版下を作り直さずに1語だけ差し替えられる。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6番が本提案の骨子を決定づけた。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6番の制約が、本命案を消去法ではなく必然として確定させた。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出典：各社ニュースリリース。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出典：流通ニュース。節約パパ・ママ53.1%、食欲旺盛ワーカー20.9%。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層をまたいで同じことを言わない。これが面積あたりの効率を最大化する。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担当者が誰でも同じ品質で書けるよう型を固定する。優先順位は A → B → 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対象商品リストと確定価格をいただければ全商品ぶん作成します。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法務に確認いただきたいのは「値上げには」を『当店は値上げしない』と読ませないかの1点のみ。第2層以下は比較語を含まないため確認不要と考える。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制作会社への発注仕様としてそのまま使える。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通らなかった場合は「物価高には、デカ盛りで。」へ。版下を作り直さずに1語だけ差し替えられる。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定期企画で最も効くのは、強い言葉を毎回考え直すことではなく、一度決めて絶対に変えないこと。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次のアクション一覧。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744322" cy="27432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77240"/>
            <a:ext cx="74432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600200" y="777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ローソンストア100  ／  デカ盛りチャレンジ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『デカ盛りチャレンジ』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タグライン ＆ POPコピー設計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通常回 ／ 主戦場は店頭POP ／ 単独開催 ／「お値段そのまま」使用不可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1051560" cy="41148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09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¥157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ばくだんおにぎり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4709160"/>
            <a:ext cx="1051560" cy="41148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709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¥289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トリプルたまごサンド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4709160"/>
            <a:ext cx="1051560" cy="41148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47091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¥538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961120" y="4709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ダブルロースカツカレー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2026.08.20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確定タグライン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値上げには、</a:t>
            </a:r>
            <a:pPr indent="0" marL="0">
              <a:lnSpc>
                <a:spcPts val="7600"/>
              </a:lnSpc>
              <a:buNone/>
            </a:pPr>
            <a:r>
              <a:rPr lang="en-US" sz="6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
</a:t>
            </a:r>
            <a:pPr indent="0" marL="0">
              <a:lnSpc>
                <a:spcPts val="7600"/>
              </a:lnSpc>
              <a:buNone/>
            </a:pPr>
            <a:r>
              <a:rPr lang="en-US" sz="60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デカ盛り</a:t>
            </a:r>
            <a:pPr indent="0" marL="0">
              <a:lnSpc>
                <a:spcPts val="76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で。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ローソンストア100　デカ盛りチャレンジ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617720"/>
            <a:ext cx="10908792" cy="1417320"/>
          </a:xfrm>
          <a:prstGeom prst="rect">
            <a:avLst/>
          </a:prstGeom>
          <a:solidFill>
            <a:srgbClr val="242830"/>
          </a:solidFill>
          <a:ln w="12700">
            <a:solidFill>
              <a:srgbClr val="2428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4864608"/>
            <a:ext cx="2622499" cy="274320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864608"/>
            <a:ext cx="26224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社内で止まった場合の即差し替え案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523036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物価高には、デカ盛りで。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309360" y="5212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文字数・改行位置・組み方はすべて同一。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入稿直前でも1語の差し替えで対応でき、三層設計は一切変わらない。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／ 前提の確定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6つの回答が決めたこと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83864" cy="162763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148840"/>
            <a:ext cx="310896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148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89888" y="21305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通常回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32688" y="2587752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実績語を封印。毎回まったく同じ言葉で回す方針が正解に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874520"/>
            <a:ext cx="3483864" cy="162763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148840"/>
            <a:ext cx="310896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148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02352" y="21305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「値上げ」表現を推したい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2587752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本命を据え置き。説得材料と即差し替え案をセットで用意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874520"/>
            <a:ext cx="3483864" cy="162763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2148840"/>
            <a:ext cx="310896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57616" y="21488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14816" y="21305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盛りすぎと並走しない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57616" y="2587752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親会社との描き分けが不要に。制約が1つ消え、言葉を強くできる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58184"/>
            <a:ext cx="3483864" cy="162763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032504"/>
            <a:ext cx="310896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0325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89888" y="401421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主戦場はPOP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" y="4471416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設計の中心がタグライン1本から「三層のPOP体系」へ移動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52544" y="3758184"/>
            <a:ext cx="3483864" cy="162763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4032504"/>
            <a:ext cx="310896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40325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401421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1個買うと1個と並走しない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45152" y="4471416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上位コピー不要。デカ盛り単体に全予算・全面積を集中できる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65008" y="3758184"/>
            <a:ext cx="3483864" cy="1627632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4032504"/>
            <a:ext cx="31089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57616" y="40325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814816" y="401421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「お値段そのまま」不可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57616" y="4471416"/>
            <a:ext cx="2898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最重要。本命の選択が「好み」から「必然」に変わった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6番の制約が、本命タグラインの選択を消去法ではなく必然として確定させた。以降の設計はすべてこの1点から導かれている。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／ 骨子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お得さを名乗れない以上、語れるものは2つしかない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30368" cy="2148840"/>
          </a:xfrm>
          <a:prstGeom prst="rect">
            <a:avLst/>
          </a:prstGeom>
          <a:solidFill>
            <a:srgbClr val="242830"/>
          </a:solidFill>
          <a:ln w="12700">
            <a:solidFill>
              <a:srgbClr val="2428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331720"/>
            <a:ext cx="1466698" cy="274320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331720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タグラインが担当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74320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姿勢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24128" y="338328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値上げには、デカ盛りで。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18504" y="2057400"/>
            <a:ext cx="5230368" cy="2148840"/>
          </a:xfrm>
          <a:prstGeom prst="rect">
            <a:avLst/>
          </a:prstGeom>
          <a:solidFill>
            <a:srgbClr val="242830"/>
          </a:solidFill>
          <a:ln w="12700">
            <a:solidFill>
              <a:srgbClr val="24283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2331720"/>
            <a:ext cx="1177747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2331720"/>
            <a:ext cx="11777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商品札が担当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702552" y="2743200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目の前の事実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702552" y="3383280"/>
            <a:ext cx="4462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カツ、2枚。　¥538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663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これは制約ではなく、他社との差が最も開く条件です。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1206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競合3社はいずれも「お値段そのまま＋◯%増量」という比較の言葉で戦っている。比較が使えないLS100は、必然的に比較しない言葉で戦うことになる。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そしてその戦い方は、元の価格が最初から低い店でしか成立しない。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／ 競合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3社はすべて同じ構文で戦っている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83864" cy="224028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02996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ファミリーマート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0976" y="237744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50976" y="3154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お値段そのまま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45%増量作戦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0976" y="3703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2021〜／作戦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83864" cy="224028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02996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ローソン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約50%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663440" y="3154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盛りすぎ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チャレンジ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3703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2023.02〜／チャレンジ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65008" y="1828800"/>
            <a:ext cx="3483864" cy="224028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2029968"/>
            <a:ext cx="2862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セブン‐イレブン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75904" y="237744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50%+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8375904" y="315468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感謝盛り／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人気商品増量祭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75904" y="3703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創業感謝祭／祭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370832"/>
            <a:ext cx="10908792" cy="7863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370832"/>
            <a:ext cx="10908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お値段そのまま</a:t>
            </a:r>
            <a:pPr algn="ctr" indent="0" marL="0">
              <a:buNone/>
            </a:pPr>
            <a:r>
              <a:rPr lang="en-US" sz="19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ctr" indent="0" marL="0">
              <a:buNone/>
            </a:pPr>
            <a:r>
              <a:rPr lang="en-US" sz="19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◯◯%増量</a:t>
            </a:r>
            <a:pPr algn="ctr" indent="0" marL="0">
              <a:buNone/>
            </a:pPr>
            <a:r>
              <a:rPr lang="en-US" sz="19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＋　</a:t>
            </a:r>
            <a:pPr algn="ctr" indent="0" marL="0">
              <a:buNone/>
            </a:pPr>
            <a:r>
              <a:rPr lang="en-US" sz="19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作戦／チャレンジ／祭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いずれも自社通常品との相対値＝比較の言葉。今回LS100はこの構文を一切使えない。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605332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出典：ファミリーマート／ローソン／セブン‐イレブン 各社ニュースリリース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／ 客層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「◯%お得」では動かない客層である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83864" cy="237744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1031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53.1%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950976" y="30175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節約パパ・ママ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3429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これ一品で食卓が片づく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家計の安心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874520"/>
            <a:ext cx="3483864" cy="237744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21031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20.9%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食欲旺盛ワーカー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63440" y="3429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これ一個で足りる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満腹の担保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5008" y="1874520"/>
            <a:ext cx="3483864" cy="237744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10312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約4割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375904" y="3017520"/>
            <a:ext cx="2862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50代以上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3429000"/>
            <a:ext cx="2862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コンビニ業界平均より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5〜10歳高い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908792" cy="86868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572000"/>
            <a:ext cx="100858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2大セグメントに共通するのは「足りる」という感覚であって、「◯%お得」という計算ではない。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出典：流通ニュース（ローソンストア100 顧客構成／小栗知義社長インタビュー）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／ 主戦場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POP三層設計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10908792" cy="1243584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9568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2304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入口・什器上部・大判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3–5m ／ 0.5秒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97510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値上げには、デカ盛りで。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0" y="19933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姿勢の宣言。商品を1つも説明せず、足を止めさせて次の層へ引き渡す。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835640" y="2258568"/>
            <a:ext cx="56692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35640" y="22585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163824"/>
            <a:ext cx="10908792" cy="1243584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36499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第2層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37124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売場什器・棚上ボード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1–2m ／ 1–2秒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338328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その値段で、そのデカさ。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55280" y="3401568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価格と量の橋渡し。視線を商品と値札の往復に誘導する。比較語ゼロ。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0835640" y="3666744"/>
            <a:ext cx="56692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35640" y="366674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908792" cy="1243584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4773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0976" y="512064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商品札・プライスカード脇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30cm ／ 2–3秒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479145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カツ、2枚。　¥538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955280" y="480974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最後のひと押し。形容詞を使わず、数えられる事実か身体の感覚だけ。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835640" y="5074920"/>
            <a:ext cx="566928" cy="27432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35640" y="50749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版を作り直すのは第3層の商品札だけ。制作コストと入稿工数が毎回ほぼ商品札だけで済み、回を重ねるほど絵柄が資産になる。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／ 商品札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商品札は3つの型で量産する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83864" cy="397764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084832"/>
            <a:ext cx="566928" cy="27432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20848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9344" y="20848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数える ── 最優先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25420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〔数えられる事実〕。＋ 価格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50976" y="297180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カツ、2枚。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たまご、3段。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メンチ、3枚。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452628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数字は事実なので法務リスクがない。「2枚」は「たっぷり」より必ず具体的に効く。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828800"/>
            <a:ext cx="3483864" cy="397764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084832"/>
            <a:ext cx="56692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848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21808" y="20848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身体 ── 数えられないとき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5420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〔身体感覚〕。＋ 価格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片手に、のらない。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持つと、重い。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スプーンが、小さく見える。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452628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おにぎりやプリンなど個数で語れない商品用。必ず実物で成立を確認してから使う。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65008" y="1828800"/>
            <a:ext cx="3483864" cy="397764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084832"/>
            <a:ext cx="566928" cy="274320"/>
          </a:xfrm>
          <a:prstGeom prst="rect">
            <a:avLst/>
          </a:prstGeom>
          <a:solidFill>
            <a:srgbClr val="6E7076"/>
          </a:solidFill>
          <a:ln w="12700">
            <a:solidFill>
              <a:srgbClr val="6E70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0848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34272" y="208483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価格直球 ── 迷ったらこれ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75904" y="2542032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これで、〔価格〕円。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75904" y="297180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これで、171円。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これで、157円。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75904" y="4526280"/>
            <a:ext cx="2862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事実ゼロ、価格のみ。法務確認が最も簡単で、LS100の価格帯では単体でも十分に強い。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形容詞（大きい・たっぷり・ボリューム満点）は全型で禁止。主観であり、比較の含意が生まれやすく、しかも実物より弱い。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／ 適用例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直近ラインナップへの適用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02996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ダブルロースカツカレー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557016" y="2029968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57016" y="2029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32688" y="2615184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6151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¥538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303580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カツ、2枚。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52544" y="1828800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02996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トリプルたまごサンド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2029968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2029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2615184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6151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¥289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45152" y="303580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たまご、3段。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065008" y="1828800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57616" y="202996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トリプルメンチカツサンド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981944" y="2029968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81944" y="202996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57616" y="2615184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7616" y="2615184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¥298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3035808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メンチ、3枚。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0080" y="3895344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0965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大きな白身魚フライ＆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ハンバーグ弁当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57016" y="4096512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57016" y="40965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2688" y="4681728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2688" y="46817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¥538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2688" y="510235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主役が、2つ。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52544" y="3895344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40965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ばくだんおにぎり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和風ツナマヨ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69480" y="4096512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40965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45152" y="4681728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6817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¥157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45152" y="510235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片手に、のらない。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537960" y="51572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※実物で要確認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65008" y="3895344"/>
            <a:ext cx="3483864" cy="184708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4096512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ロールケーキ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りんご＆カスタード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981944" y="4096512"/>
            <a:ext cx="310896" cy="274320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81944" y="409651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57616" y="4681728"/>
            <a:ext cx="713232" cy="329184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57616" y="46817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¥171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357616" y="510235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これで、171円。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価格は過去回の税込価格の仮置き。実施回の確定価格に差し替えのうえ、全商品ぶんを型に沿って書き切ります。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 ／ 法務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禁止語と言い換え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制作会社と共有すれば、上がってきた版下の一次チェックがその場で終わります。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84832"/>
            <a:ext cx="888797" cy="27432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8887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0" y="2084832"/>
            <a:ext cx="1033272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08483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言い換える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542032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4203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お値段そのまま／価格据え置き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72784" y="254203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542032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9712" y="2542032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価格の実数をそのまま出す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200400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◯%増量／1.5倍／大幅増量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72784" y="3200400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0" y="3200400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3200400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2枚・3段など数えられる事実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858768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通常品より／前回より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72784" y="3858768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858768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3858768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比較せず、目の前の事実だけ書く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517136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517136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お得／実質値下げ／激安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272784" y="4517136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4517136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4517136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価格を出し、判断は客に渡す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5175504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5175504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業界最大／日本一／No.1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272784" y="5175504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5175504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9712" y="5175504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使わない（通常回のため封印）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5833872"/>
            <a:ext cx="5577840" cy="566928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6112" y="5833872"/>
            <a:ext cx="5065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大きい／たっぷり／ボリューム満点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272784" y="5833872"/>
            <a:ext cx="2926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5833872"/>
            <a:ext cx="4965192" cy="566928"/>
          </a:xfrm>
          <a:prstGeom prst="rect">
            <a:avLst/>
          </a:prstGeom>
          <a:solidFill>
            <a:srgbClr val="E7E7E0"/>
          </a:solidFill>
          <a:ln w="12700">
            <a:solidFill>
              <a:srgbClr val="E7E7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39712" y="5833872"/>
            <a:ext cx="4453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型A・型B・型C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 ／ 版下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POP制作のルール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57400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99616" y="181051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改行位置を固定する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19472" y="1810512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「値上げには、／デカ盛りで。」の2行組を正とする。1行組は横に間延びし、遠見での視認速度が落ちる。読点2つが呼吸をつくるので縦組みでもそのまま成立する。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990088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99616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書体は極太ゴシック一択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9472" y="2743200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細い書体や明朝は企画内容と矛盾する。言葉の意味と文字の太さを一致させる。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675888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3922776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922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99616" y="3675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企画色を固定し、毎回変えない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3675888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通常回を毎回同じ色で打つことでしか、店頭での記号化は起きない。回ごとの色替えは資産形成を毎回ゼロに戻す。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08576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4855464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99616" y="4608576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コピー単体のPOPを作らない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4608576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必ず価格が同じ視野に入るよう配置する。比較訴求が使えない以上、説得力の最大値は価格の実数にある。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41264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5788152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5788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99616" y="5541264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第3層は1商品1メッセージ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5541264"/>
            <a:ext cx="6355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2つ以上の情報を載せると、30cm・2秒では両方読まれない。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／ 社内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「値上げ」表現を通す4つの論拠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64208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会議で出る反論はほぼ1つ ──「自社広告でネガティブワードを使うのか」。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29968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276856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276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99616" y="202996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主語は「世の中の値上げ」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49240" y="2029968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特定企業の非難ではない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980944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3227832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9616" y="2980944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「値上げしない」とは言っていない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298094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言っているのは「値上げに量で応える」という姿勢だけ。実態と矛盾しない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08792" cy="822960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178808"/>
            <a:ext cx="329184" cy="329184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178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9616" y="3931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この企画はお得さを名乗れない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9319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法務確認により「お値段そのまま」が使えない。名乗れない以上、語れるのは姿勢だけ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82896"/>
            <a:ext cx="10908792" cy="82296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5129784"/>
            <a:ext cx="32918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129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99616" y="488289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新しい主張ではない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49240" y="4882896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直近リリース見出し「値上げが続く今こそ応援！」の主語と述語を残しただけ。社としてすでに言っている言葉を、POPに載る長さに研いだもの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4が最も効きます。「新しく踏み込む案」ではなく「すでに社が言っていることの圧縮」だと示せれば、論点は表現の可否から文字数の話に降ります。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823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 ／ 運用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通常回だからこそ、変えない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2179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7830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第1層タグライン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114800" y="1938528"/>
            <a:ext cx="65836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9385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4920" y="1783080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一字も変えない。数年かけて記号化する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96312"/>
            <a:ext cx="10908792" cy="62179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496312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第2層ボード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114800" y="2651760"/>
            <a:ext cx="65836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6517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4920" y="2496312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版を作り直さない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09544"/>
            <a:ext cx="10908792" cy="62179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20954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企画色・書体・改行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114800" y="3364992"/>
            <a:ext cx="658368" cy="274320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3364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74920" y="3209544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回ごとに変えると資産形成が毎回ゼロに戻る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10908792" cy="62179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922776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第3層 商品札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114800" y="4078224"/>
            <a:ext cx="658368" cy="274320"/>
          </a:xfrm>
          <a:prstGeom prst="rect">
            <a:avLst/>
          </a:prstGeom>
          <a:solidFill>
            <a:srgbClr val="D8232A"/>
          </a:solidFill>
          <a:ln w="12700">
            <a:solidFill>
              <a:srgbClr val="D823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0" y="40782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毎回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74920" y="3922776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型A→B→Cの優先順で機械的に生成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636008"/>
            <a:ext cx="10908792" cy="621792"/>
          </a:xfrm>
          <a:prstGeom prst="rect">
            <a:avLst/>
          </a:prstGeom>
          <a:solidFill>
            <a:srgbClr val="F1F1EC"/>
          </a:solidFill>
          <a:ln w="12700">
            <a:solidFill>
              <a:srgbClr val="F1F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4636008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実績語（過去最大 等）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114800" y="4791456"/>
            <a:ext cx="658368" cy="274320"/>
          </a:xfrm>
          <a:prstGeom prst="rect">
            <a:avLst/>
          </a:prstGeom>
          <a:solidFill>
            <a:srgbClr val="6E7076"/>
          </a:solidFill>
          <a:ln w="12700">
            <a:solidFill>
              <a:srgbClr val="6E70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7914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封印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4636008"/>
            <a:ext cx="6181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07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通常回では使わない。特別回のために温存する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532120"/>
            <a:ext cx="10908792" cy="841248"/>
          </a:xfrm>
          <a:prstGeom prst="rect">
            <a:avLst/>
          </a:prstGeom>
          <a:solidFill>
            <a:srgbClr val="16181C"/>
          </a:solidFill>
          <a:ln w="12700">
            <a:solidFill>
              <a:srgbClr val="1618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1560" y="5532120"/>
            <a:ext cx="10085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3回目の掲出から、客は言葉を読まずに絵柄で企画を認識しはじめる。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 ／ 次の一手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この設計を動かすために必要なもの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39696"/>
            <a:ext cx="420624" cy="329184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39696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25880" y="198424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今回の対象商品リストと確定価格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80760" y="1984248"/>
            <a:ext cx="5468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いただければ全商品ぶんの第3層コピーを型に沿って書き切ります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20624" cy="329184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286207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「値上げには」の法務確認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80760" y="2862072"/>
            <a:ext cx="5468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絞った1点のみ。結果次第で保険案に切り替えます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420624" cy="329184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89534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7398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型Bを使う商品の実物確認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80760" y="3739896"/>
            <a:ext cx="5468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成立しなければ型Cに落とします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73168"/>
            <a:ext cx="420624" cy="329184"/>
          </a:xfrm>
          <a:prstGeom prst="rect">
            <a:avLst/>
          </a:prstGeom>
          <a:solidFill>
            <a:srgbClr val="F7DE3A"/>
          </a:solidFill>
          <a:ln w="12700">
            <a:solidFill>
              <a:srgbClr val="F7D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773168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181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25880" y="4617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POP什器のサイズ・掲出面数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80760" y="4617720"/>
            <a:ext cx="5468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BA0A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三層それぞれの版下サイズを詰めるのに必要です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577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値上げには、</a:t>
            </a:r>
            <a:pPr indent="0" marL="0">
              <a:buNone/>
            </a:pPr>
            <a:r>
              <a:rPr lang="en-US" sz="2800" b="1" dirty="0">
                <a:solidFill>
                  <a:srgbClr val="F7DE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デカ盛り</a:t>
            </a:r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で。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デカ盛りチャレンジ タグライン ＆ POPコピー設計</dc:title>
  <dc:subject>PptxGenJS Presentation</dc:subject>
  <dc:creator>LAWSON STORE 100</dc:creator>
  <cp:lastModifiedBy>LAWSON STORE 100</cp:lastModifiedBy>
  <cp:revision>1</cp:revision>
  <dcterms:created xsi:type="dcterms:W3CDTF">2026-08-20T09:41:18Z</dcterms:created>
  <dcterms:modified xsi:type="dcterms:W3CDTF">2026-08-20T09:41:18Z</dcterms:modified>
</cp:coreProperties>
</file>